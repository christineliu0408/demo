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>
            <a:extLst>
              <a:ext uri="{FF2B5EF4-FFF2-40B4-BE49-F238E27FC236}">
                <a16:creationId xmlns:a16="http://schemas.microsoft.com/office/drawing/2014/main" id="{0859A287-1FC9-453B-AE0F-6908EF145E57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 统计报告生成 workflow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0D4138-49A2-425B-A867-36A82B672F4A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把数据检查、统计决策、报告生成和质量检查拆成可复现流程，并在关键节点保留人工确认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E65259F-F645-43DE-AECD-D9D928DEB30E}"/>
              </a:ext>
            </a:extLst>
          </p:cNvPr>
          <p:cNvSpPr>
            <a:spLocks noGrp="1"/>
          </p:cNvSpPr>
          <p:nvPr/>
        </p:nvSpPr>
        <p:spPr>
          <a:xfrm>
            <a:off x="1971675" y="2508396"/>
            <a:ext cx="1638300" cy="2853733"/>
          </a:xfrm>
          <a:prstGeom prst="roundRect">
            <a:avLst>
              <a:gd name="adj" fmla="val 4651"/>
            </a:avLst>
          </a:prstGeom>
          <a:solidFill>
            <a:srgbClr val="FFFBEB"/>
          </a:solidFill>
          <a:ln w="13335">
            <a:solidFill>
              <a:srgbClr val="F59E0B"/>
            </a:solidFill>
            <a:prstDash val="dash"/>
          </a:ln>
        </p:spPr>
      </p:sp>
      <p:sp>
        <p:nvSpPr>
          <p:cNvPr id="5" name="右箭头 4">
            <a:extLst>
              <a:ext uri="{FF2B5EF4-FFF2-40B4-BE49-F238E27FC236}">
                <a16:creationId xmlns:a16="http://schemas.microsoft.com/office/drawing/2014/main" id="{BAA19B3D-4A89-4086-B17C-F5D256053FBE}"/>
              </a:ext>
            </a:extLst>
          </p:cNvPr>
          <p:cNvSpPr>
            <a:spLocks noGrp="1"/>
          </p:cNvSpPr>
          <p:nvPr/>
        </p:nvSpPr>
        <p:spPr>
          <a:xfrm>
            <a:off x="1905000" y="3232297"/>
            <a:ext cx="228600" cy="2286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840CC64A-0A5A-4A6B-B0AA-32DB35C306F3}"/>
              </a:ext>
            </a:extLst>
          </p:cNvPr>
          <p:cNvSpPr>
            <a:spLocks noGrp="1"/>
          </p:cNvSpPr>
          <p:nvPr/>
        </p:nvSpPr>
        <p:spPr>
          <a:xfrm>
            <a:off x="3552825" y="3232297"/>
            <a:ext cx="228600" cy="2286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C0B3571C-C5BD-4F38-A268-501118A56DF5}"/>
              </a:ext>
            </a:extLst>
          </p:cNvPr>
          <p:cNvSpPr>
            <a:spLocks noGrp="1"/>
          </p:cNvSpPr>
          <p:nvPr/>
        </p:nvSpPr>
        <p:spPr>
          <a:xfrm>
            <a:off x="5200650" y="3232297"/>
            <a:ext cx="228600" cy="2286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77990B5D-C29F-4F35-A0BE-FFC30A8A9D86}"/>
              </a:ext>
            </a:extLst>
          </p:cNvPr>
          <p:cNvSpPr>
            <a:spLocks noGrp="1"/>
          </p:cNvSpPr>
          <p:nvPr/>
        </p:nvSpPr>
        <p:spPr>
          <a:xfrm>
            <a:off x="6848475" y="3232297"/>
            <a:ext cx="228600" cy="2286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8391942C-5B5F-41B3-AA16-A02730DCAC3C}"/>
              </a:ext>
            </a:extLst>
          </p:cNvPr>
          <p:cNvSpPr>
            <a:spLocks noGrp="1"/>
          </p:cNvSpPr>
          <p:nvPr/>
        </p:nvSpPr>
        <p:spPr>
          <a:xfrm>
            <a:off x="8496300" y="3232297"/>
            <a:ext cx="228600" cy="2286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697C835F-FBC3-4A3C-B3B6-F71A0037DCF9}"/>
              </a:ext>
            </a:extLst>
          </p:cNvPr>
          <p:cNvSpPr>
            <a:spLocks noGrp="1"/>
          </p:cNvSpPr>
          <p:nvPr/>
        </p:nvSpPr>
        <p:spPr>
          <a:xfrm>
            <a:off x="10144125" y="3232297"/>
            <a:ext cx="228600" cy="2286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7DAE39A-C756-4C37-8B70-D3D400380A40}"/>
              </a:ext>
            </a:extLst>
          </p:cNvPr>
          <p:cNvSpPr>
            <a:spLocks noGrp="1"/>
          </p:cNvSpPr>
          <p:nvPr/>
        </p:nvSpPr>
        <p:spPr>
          <a:xfrm>
            <a:off x="457200" y="2756047"/>
            <a:ext cx="1381125" cy="1219200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0478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36E8CF-1735-4F8D-B166-95FBCD794982}"/>
              </a:ext>
            </a:extLst>
          </p:cNvPr>
          <p:cNvSpPr>
            <a:spLocks noGrp="1"/>
          </p:cNvSpPr>
          <p:nvPr/>
        </p:nvSpPr>
        <p:spPr>
          <a:xfrm>
            <a:off x="457200" y="2756047"/>
            <a:ext cx="47625" cy="1219200"/>
          </a:xfrm>
          <a:prstGeom prst="rect">
            <a:avLst/>
          </a:prstGeom>
          <a:solidFill>
            <a:srgbClr val="0EA5E9"/>
          </a:solidFill>
          <a:ln w="0">
            <a:solidFill>
              <a:srgbClr val="0EA5E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78291A-230C-4AED-B1AE-CA94CCA4AAE0}"/>
              </a:ext>
            </a:extLst>
          </p:cNvPr>
          <p:cNvSpPr>
            <a:spLocks noGrp="1"/>
          </p:cNvSpPr>
          <p:nvPr/>
        </p:nvSpPr>
        <p:spPr>
          <a:xfrm>
            <a:off x="571500" y="2870347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1">
                <a:solidFill>
                  <a:srgbClr val="111827"/>
                </a:solidFill>
              </a:defRPr>
            </a:pPr>
            <a:r>
              <a:rPr sz="1238" b="1">
                <a:solidFill>
                  <a:srgbClr val="111827"/>
                </a:solidFill>
              </a:rPr>
              <a:t>输入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7DDDDD-DEA0-451C-96F5-592B38D19771}"/>
              </a:ext>
            </a:extLst>
          </p:cNvPr>
          <p:cNvSpPr>
            <a:spLocks noGrp="1"/>
          </p:cNvSpPr>
          <p:nvPr/>
        </p:nvSpPr>
        <p:spPr>
          <a:xfrm>
            <a:off x="571500" y="3137047"/>
            <a:ext cx="11525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mock data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analysis plan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变量标签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业务问题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7ECEF28-59B0-49EE-9D80-E581E1212407}"/>
              </a:ext>
            </a:extLst>
          </p:cNvPr>
          <p:cNvSpPr>
            <a:spLocks noGrp="1"/>
          </p:cNvSpPr>
          <p:nvPr/>
        </p:nvSpPr>
        <p:spPr>
          <a:xfrm>
            <a:off x="2105025" y="2756047"/>
            <a:ext cx="1381125" cy="1219200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0478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65A1D0-937C-4E9A-B6C9-C35A21608398}"/>
              </a:ext>
            </a:extLst>
          </p:cNvPr>
          <p:cNvSpPr>
            <a:spLocks noGrp="1"/>
          </p:cNvSpPr>
          <p:nvPr/>
        </p:nvSpPr>
        <p:spPr>
          <a:xfrm>
            <a:off x="2105025" y="2756047"/>
            <a:ext cx="47625" cy="1219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B26F4E-A00D-4E71-A3F5-05C942A32C7B}"/>
              </a:ext>
            </a:extLst>
          </p:cNvPr>
          <p:cNvSpPr>
            <a:spLocks noGrp="1"/>
          </p:cNvSpPr>
          <p:nvPr/>
        </p:nvSpPr>
        <p:spPr>
          <a:xfrm>
            <a:off x="2219325" y="2870347"/>
            <a:ext cx="11525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1">
                <a:solidFill>
                  <a:srgbClr val="111827"/>
                </a:solidFill>
              </a:defRPr>
            </a:pPr>
            <a:r>
              <a:rPr sz="1238" b="1">
                <a:solidFill>
                  <a:srgbClr val="111827"/>
                </a:solidFill>
              </a:rPr>
              <a:t>统计适用性</a:t>
            </a:r>
          </a:p>
          <a:p>
            <a:pPr algn="l">
              <a:defRPr sz="1238" b="1">
                <a:solidFill>
                  <a:srgbClr val="111827"/>
                </a:solidFill>
              </a:defRPr>
            </a:pPr>
            <a:r>
              <a:rPr sz="1238" b="1">
                <a:solidFill>
                  <a:srgbClr val="111827"/>
                </a:solidFill>
              </a:rPr>
              <a:t>检查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955D64-CE27-435A-A1CC-52055489F5FD}"/>
              </a:ext>
            </a:extLst>
          </p:cNvPr>
          <p:cNvSpPr>
            <a:spLocks noGrp="1"/>
          </p:cNvSpPr>
          <p:nvPr/>
        </p:nvSpPr>
        <p:spPr>
          <a:xfrm>
            <a:off x="2219325" y="3308497"/>
            <a:ext cx="1152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数据结构与质量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异常值与正态性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方差齐性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19452BA8-B207-45D5-B763-B43FD0119D74}"/>
              </a:ext>
            </a:extLst>
          </p:cNvPr>
          <p:cNvSpPr>
            <a:spLocks noGrp="1"/>
          </p:cNvSpPr>
          <p:nvPr/>
        </p:nvSpPr>
        <p:spPr>
          <a:xfrm>
            <a:off x="3752850" y="2756047"/>
            <a:ext cx="1381125" cy="1219200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0478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455527-90C7-4FF6-9198-B83CE85FD225}"/>
              </a:ext>
            </a:extLst>
          </p:cNvPr>
          <p:cNvSpPr>
            <a:spLocks noGrp="1"/>
          </p:cNvSpPr>
          <p:nvPr/>
        </p:nvSpPr>
        <p:spPr>
          <a:xfrm>
            <a:off x="3752850" y="2756047"/>
            <a:ext cx="47625" cy="1219200"/>
          </a:xfrm>
          <a:prstGeom prst="rect">
            <a:avLst/>
          </a:prstGeom>
          <a:solidFill>
            <a:srgbClr val="EC4899"/>
          </a:solidFill>
          <a:ln w="0">
            <a:solidFill>
              <a:srgbClr val="EC489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E6EC62-C4DF-4615-BC8E-D374793331D6}"/>
              </a:ext>
            </a:extLst>
          </p:cNvPr>
          <p:cNvSpPr>
            <a:spLocks noGrp="1"/>
          </p:cNvSpPr>
          <p:nvPr/>
        </p:nvSpPr>
        <p:spPr>
          <a:xfrm>
            <a:off x="3867150" y="2870347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1">
                <a:solidFill>
                  <a:srgbClr val="111827"/>
                </a:solidFill>
              </a:defRPr>
            </a:pPr>
            <a:r>
              <a:rPr sz="1238" b="1">
                <a:solidFill>
                  <a:srgbClr val="111827"/>
                </a:solidFill>
              </a:rPr>
              <a:t>人工确认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5541D72-ABD9-49B4-AB61-D9014E2D3298}"/>
              </a:ext>
            </a:extLst>
          </p:cNvPr>
          <p:cNvSpPr>
            <a:spLocks noGrp="1"/>
          </p:cNvSpPr>
          <p:nvPr/>
        </p:nvSpPr>
        <p:spPr>
          <a:xfrm>
            <a:off x="3867150" y="3137047"/>
            <a:ext cx="11525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确认分析路径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逐个 outcome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确认是否继续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阻断高风险结论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8D97285B-EF90-4298-99DB-F2DF74047F58}"/>
              </a:ext>
            </a:extLst>
          </p:cNvPr>
          <p:cNvSpPr>
            <a:spLocks noGrp="1"/>
          </p:cNvSpPr>
          <p:nvPr/>
        </p:nvSpPr>
        <p:spPr>
          <a:xfrm>
            <a:off x="5400675" y="2756047"/>
            <a:ext cx="1381125" cy="1219200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0478">
            <a:solidFill>
              <a:srgbClr val="CBD5E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C509916-C1C2-4245-8EF4-59197649497A}"/>
              </a:ext>
            </a:extLst>
          </p:cNvPr>
          <p:cNvSpPr>
            <a:spLocks noGrp="1"/>
          </p:cNvSpPr>
          <p:nvPr/>
        </p:nvSpPr>
        <p:spPr>
          <a:xfrm>
            <a:off x="5400675" y="2756047"/>
            <a:ext cx="47625" cy="1219200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32EB024-EE9D-4E9B-A75C-CF6558A485B1}"/>
              </a:ext>
            </a:extLst>
          </p:cNvPr>
          <p:cNvSpPr>
            <a:spLocks noGrp="1"/>
          </p:cNvSpPr>
          <p:nvPr/>
        </p:nvSpPr>
        <p:spPr>
          <a:xfrm>
            <a:off x="5514975" y="2870347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1">
                <a:solidFill>
                  <a:srgbClr val="111827"/>
                </a:solidFill>
              </a:defRPr>
            </a:pPr>
            <a:r>
              <a:rPr sz="1238" b="1">
                <a:solidFill>
                  <a:srgbClr val="111827"/>
                </a:solidFill>
              </a:rPr>
              <a:t>Python 分析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B89E8F6-8327-4307-ACF3-3404600ED3E7}"/>
              </a:ext>
            </a:extLst>
          </p:cNvPr>
          <p:cNvSpPr>
            <a:spLocks noGrp="1"/>
          </p:cNvSpPr>
          <p:nvPr/>
        </p:nvSpPr>
        <p:spPr>
          <a:xfrm>
            <a:off x="5514975" y="3137047"/>
            <a:ext cx="11525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ordinary ANOVA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Welch ANOVA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post hoc 比较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8861F470-70F7-454E-8C6E-30596A27DF23}"/>
              </a:ext>
            </a:extLst>
          </p:cNvPr>
          <p:cNvSpPr>
            <a:spLocks noGrp="1"/>
          </p:cNvSpPr>
          <p:nvPr/>
        </p:nvSpPr>
        <p:spPr>
          <a:xfrm>
            <a:off x="7048500" y="2756047"/>
            <a:ext cx="1381125" cy="1219200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0478">
            <a:solidFill>
              <a:srgbClr val="CBD5E1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2EEF76D-D5A1-4D29-86CD-CBCB56A70879}"/>
              </a:ext>
            </a:extLst>
          </p:cNvPr>
          <p:cNvSpPr>
            <a:spLocks noGrp="1"/>
          </p:cNvSpPr>
          <p:nvPr/>
        </p:nvSpPr>
        <p:spPr>
          <a:xfrm>
            <a:off x="7048500" y="2756047"/>
            <a:ext cx="47625" cy="121920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7465180-2CA3-4A6D-93FA-F256F9DE2087}"/>
              </a:ext>
            </a:extLst>
          </p:cNvPr>
          <p:cNvSpPr>
            <a:spLocks noGrp="1"/>
          </p:cNvSpPr>
          <p:nvPr/>
        </p:nvSpPr>
        <p:spPr>
          <a:xfrm>
            <a:off x="7162800" y="2870347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1">
                <a:solidFill>
                  <a:srgbClr val="111827"/>
                </a:solidFill>
              </a:defRPr>
            </a:pPr>
            <a:r>
              <a:rPr sz="1238" b="1">
                <a:solidFill>
                  <a:srgbClr val="111827"/>
                </a:solidFill>
              </a:rPr>
              <a:t>报告初稿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9444ED1-9530-4EB7-A038-647733ECE789}"/>
              </a:ext>
            </a:extLst>
          </p:cNvPr>
          <p:cNvSpPr>
            <a:spLocks noGrp="1"/>
          </p:cNvSpPr>
          <p:nvPr/>
        </p:nvSpPr>
        <p:spPr>
          <a:xfrm>
            <a:off x="7162800" y="3137047"/>
            <a:ext cx="11525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中文报告草稿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均值表与图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Word 草稿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C805B7B7-759D-4D12-B292-BEE3244FD038}"/>
              </a:ext>
            </a:extLst>
          </p:cNvPr>
          <p:cNvSpPr>
            <a:spLocks noGrp="1"/>
          </p:cNvSpPr>
          <p:nvPr/>
        </p:nvSpPr>
        <p:spPr>
          <a:xfrm>
            <a:off x="8696325" y="2756047"/>
            <a:ext cx="1381125" cy="1219200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0478">
            <a:solidFill>
              <a:srgbClr val="CBD5E1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C3C1C6B-8CD7-45E4-BB1A-BF4A6EBB4C13}"/>
              </a:ext>
            </a:extLst>
          </p:cNvPr>
          <p:cNvSpPr>
            <a:spLocks noGrp="1"/>
          </p:cNvSpPr>
          <p:nvPr/>
        </p:nvSpPr>
        <p:spPr>
          <a:xfrm>
            <a:off x="8696325" y="2756047"/>
            <a:ext cx="47625" cy="12192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8304E7-F86C-417D-AF39-8FDDB5A63F01}"/>
              </a:ext>
            </a:extLst>
          </p:cNvPr>
          <p:cNvSpPr>
            <a:spLocks noGrp="1"/>
          </p:cNvSpPr>
          <p:nvPr/>
        </p:nvSpPr>
        <p:spPr>
          <a:xfrm>
            <a:off x="8810625" y="2870347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1">
                <a:solidFill>
                  <a:srgbClr val="111827"/>
                </a:solidFill>
              </a:defRPr>
            </a:pPr>
            <a:r>
              <a:rPr sz="1238" b="1">
                <a:solidFill>
                  <a:srgbClr val="111827"/>
                </a:solidFill>
              </a:rPr>
              <a:t>质量检查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4DE15F-5194-4D32-A57E-0F55D6DFB7B9}"/>
              </a:ext>
            </a:extLst>
          </p:cNvPr>
          <p:cNvSpPr>
            <a:spLocks noGrp="1"/>
          </p:cNvSpPr>
          <p:nvPr/>
        </p:nvSpPr>
        <p:spPr>
          <a:xfrm>
            <a:off x="8810625" y="3137047"/>
            <a:ext cx="11525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统计一致性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图文一致性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公开展示安全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人工确认边界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A93216C0-1359-4EA5-94B0-559EE05EA854}"/>
              </a:ext>
            </a:extLst>
          </p:cNvPr>
          <p:cNvSpPr>
            <a:spLocks noGrp="1"/>
          </p:cNvSpPr>
          <p:nvPr/>
        </p:nvSpPr>
        <p:spPr>
          <a:xfrm>
            <a:off x="10344150" y="2756047"/>
            <a:ext cx="1381125" cy="1219200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0478">
            <a:solidFill>
              <a:srgbClr val="CBD5E1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4FE50A4-36A7-4CF7-8D9A-17D5C777424D}"/>
              </a:ext>
            </a:extLst>
          </p:cNvPr>
          <p:cNvSpPr>
            <a:spLocks noGrp="1"/>
          </p:cNvSpPr>
          <p:nvPr/>
        </p:nvSpPr>
        <p:spPr>
          <a:xfrm>
            <a:off x="10344150" y="2756047"/>
            <a:ext cx="47625" cy="12192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1F23012-F466-4A33-ADC6-2475A913235F}"/>
              </a:ext>
            </a:extLst>
          </p:cNvPr>
          <p:cNvSpPr>
            <a:spLocks noGrp="1"/>
          </p:cNvSpPr>
          <p:nvPr/>
        </p:nvSpPr>
        <p:spPr>
          <a:xfrm>
            <a:off x="10458450" y="2870347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1">
                <a:solidFill>
                  <a:srgbClr val="111827"/>
                </a:solidFill>
              </a:defRPr>
            </a:pPr>
            <a:r>
              <a:rPr sz="1238" b="1">
                <a:solidFill>
                  <a:srgbClr val="111827"/>
                </a:solidFill>
              </a:rPr>
              <a:t>最终输出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7225FB6-FC4F-4B5F-94BF-23029CDC9750}"/>
              </a:ext>
            </a:extLst>
          </p:cNvPr>
          <p:cNvSpPr>
            <a:spLocks noGrp="1"/>
          </p:cNvSpPr>
          <p:nvPr/>
        </p:nvSpPr>
        <p:spPr>
          <a:xfrm>
            <a:off x="10458450" y="3137047"/>
            <a:ext cx="11525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最终 Word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Markdown 预览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图表与 QA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>
                <a:solidFill>
                  <a:srgbClr val="475569"/>
                </a:solidFill>
              </a:rPr>
              <a:t>评估材料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908381FE-7F93-44B2-9C2A-69C7B841722E}"/>
              </a:ext>
            </a:extLst>
          </p:cNvPr>
          <p:cNvSpPr>
            <a:spLocks noGrp="1"/>
          </p:cNvSpPr>
          <p:nvPr/>
        </p:nvSpPr>
        <p:spPr>
          <a:xfrm>
            <a:off x="2105025" y="4127647"/>
            <a:ext cx="1381125" cy="1143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478">
            <a:solidFill>
              <a:srgbClr val="FDBA74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2892F81-6322-49B1-AB15-8B3DD4B44A4E}"/>
              </a:ext>
            </a:extLst>
          </p:cNvPr>
          <p:cNvSpPr>
            <a:spLocks noGrp="1"/>
          </p:cNvSpPr>
          <p:nvPr/>
        </p:nvSpPr>
        <p:spPr>
          <a:xfrm>
            <a:off x="2219325" y="4241947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1">
                <a:solidFill>
                  <a:srgbClr val="111827"/>
                </a:solidFill>
              </a:defRPr>
            </a:pPr>
            <a:r>
              <a:rPr sz="1238" b="1">
                <a:solidFill>
                  <a:srgbClr val="111827"/>
                </a:solidFill>
              </a:rPr>
              <a:t>推荐路径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A162BF0-86E3-4431-9C3A-167E9E3F9F42}"/>
              </a:ext>
            </a:extLst>
          </p:cNvPr>
          <p:cNvSpPr>
            <a:spLocks noGrp="1"/>
          </p:cNvSpPr>
          <p:nvPr/>
        </p:nvSpPr>
        <p:spPr>
          <a:xfrm>
            <a:off x="2219325" y="4508647"/>
            <a:ext cx="11525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 dirty="0">
                <a:solidFill>
                  <a:srgbClr val="475569"/>
                </a:solidFill>
              </a:rPr>
              <a:t>ordinary ANOVA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 dirty="0">
                <a:solidFill>
                  <a:srgbClr val="475569"/>
                </a:solidFill>
              </a:rPr>
              <a:t>Welch ANOVA</a:t>
            </a:r>
          </a:p>
          <a:p>
            <a:pPr algn="l">
              <a:defRPr sz="990" b="0">
                <a:solidFill>
                  <a:srgbClr val="475569"/>
                </a:solidFill>
              </a:defRPr>
            </a:pPr>
            <a:r>
              <a:rPr sz="990" b="0" dirty="0">
                <a:solidFill>
                  <a:srgbClr val="475569"/>
                </a:solidFill>
              </a:rPr>
              <a:t>diagnostic-only </a:t>
            </a:r>
            <a:r>
              <a:rPr sz="990" b="0" dirty="0" err="1">
                <a:solidFill>
                  <a:srgbClr val="475569"/>
                </a:solidFill>
              </a:rPr>
              <a:t>或</a:t>
            </a:r>
            <a:r>
              <a:rPr sz="990" b="0" dirty="0">
                <a:solidFill>
                  <a:srgbClr val="475569"/>
                </a:solidFill>
              </a:rPr>
              <a:t> stop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D7783BF-78F5-4ADD-84EE-39C6183D885F}"/>
              </a:ext>
            </a:extLst>
          </p:cNvPr>
          <p:cNvSpPr>
            <a:spLocks noGrp="1"/>
          </p:cNvSpPr>
          <p:nvPr/>
        </p:nvSpPr>
        <p:spPr>
          <a:xfrm>
            <a:off x="7739062" y="1717822"/>
            <a:ext cx="2905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C2410C"/>
                </a:solidFill>
              </a:defRPr>
            </a:pPr>
            <a:r>
              <a:rPr sz="1013" b="0" dirty="0" err="1">
                <a:solidFill>
                  <a:srgbClr val="C2410C"/>
                </a:solidFill>
              </a:rPr>
              <a:t>报告或图表问题：返回报告初稿</a:t>
            </a:r>
            <a:endParaRPr sz="1013" b="0" dirty="0">
              <a:solidFill>
                <a:srgbClr val="C2410C"/>
              </a:solidFill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484C032-EF37-419F-8500-3B9DB5FE95DB}"/>
              </a:ext>
            </a:extLst>
          </p:cNvPr>
          <p:cNvSpPr>
            <a:spLocks noGrp="1"/>
          </p:cNvSpPr>
          <p:nvPr/>
        </p:nvSpPr>
        <p:spPr>
          <a:xfrm>
            <a:off x="10044113" y="2763578"/>
            <a:ext cx="333375" cy="468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0F766E"/>
                </a:solidFill>
              </a:defRPr>
            </a:pPr>
            <a:r>
              <a:rPr sz="938" b="1" dirty="0" err="1">
                <a:solidFill>
                  <a:srgbClr val="0F766E"/>
                </a:solidFill>
              </a:rPr>
              <a:t>通过</a:t>
            </a:r>
            <a:endParaRPr sz="938" b="1" dirty="0">
              <a:solidFill>
                <a:srgbClr val="0F766E"/>
              </a:solidFill>
            </a:endParaRPr>
          </a:p>
        </p:txBody>
      </p:sp>
      <p:sp>
        <p:nvSpPr>
          <p:cNvPr id="98" name="手杖形箭头 97">
            <a:extLst>
              <a:ext uri="{FF2B5EF4-FFF2-40B4-BE49-F238E27FC236}">
                <a16:creationId xmlns:a16="http://schemas.microsoft.com/office/drawing/2014/main" id="{00DF2828-6DC7-AEBB-835A-3F6D6FFB199F}"/>
              </a:ext>
            </a:extLst>
          </p:cNvPr>
          <p:cNvSpPr/>
          <p:nvPr/>
        </p:nvSpPr>
        <p:spPr>
          <a:xfrm flipH="1">
            <a:off x="7491742" y="1994047"/>
            <a:ext cx="1902339" cy="762000"/>
          </a:xfrm>
          <a:prstGeom prst="uturnArrow">
            <a:avLst>
              <a:gd name="adj1" fmla="val 18023"/>
              <a:gd name="adj2" fmla="val 25000"/>
              <a:gd name="adj3" fmla="val 25000"/>
              <a:gd name="adj4" fmla="val 43750"/>
              <a:gd name="adj5" fmla="val 98721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9" name="手杖形箭头 98">
            <a:extLst>
              <a:ext uri="{FF2B5EF4-FFF2-40B4-BE49-F238E27FC236}">
                <a16:creationId xmlns:a16="http://schemas.microsoft.com/office/drawing/2014/main" id="{7AAC6F3D-7057-234E-89DD-284C5756A19A}"/>
              </a:ext>
            </a:extLst>
          </p:cNvPr>
          <p:cNvSpPr/>
          <p:nvPr/>
        </p:nvSpPr>
        <p:spPr>
          <a:xfrm flipH="1" flipV="1">
            <a:off x="4173055" y="3994297"/>
            <a:ext cx="5221025" cy="800100"/>
          </a:xfrm>
          <a:prstGeom prst="uturnArrow">
            <a:avLst>
              <a:gd name="adj1" fmla="val 18023"/>
              <a:gd name="adj2" fmla="val 25000"/>
              <a:gd name="adj3" fmla="val 25000"/>
              <a:gd name="adj4" fmla="val 43750"/>
              <a:gd name="adj5" fmla="val 98721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15BF14F-1972-C152-4F5C-DB1B2BB950DA}"/>
              </a:ext>
            </a:extLst>
          </p:cNvPr>
          <p:cNvSpPr>
            <a:spLocks noGrp="1"/>
          </p:cNvSpPr>
          <p:nvPr/>
        </p:nvSpPr>
        <p:spPr>
          <a:xfrm>
            <a:off x="5849458" y="4899172"/>
            <a:ext cx="2905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0">
                <a:solidFill>
                  <a:srgbClr val="64748B"/>
                </a:solidFill>
              </a:defRPr>
            </a:pPr>
            <a:r>
              <a:rPr lang="zh-CN" altLang="en-US" sz="1013" dirty="0">
                <a:solidFill>
                  <a:srgbClr val="C2410C"/>
                </a:solidFill>
              </a:rPr>
              <a:t>硬性问题：回到人工确认</a:t>
            </a:r>
          </a:p>
        </p:txBody>
      </p:sp>
    </p:spTree>
    <p:extLst>
      <p:ext uri="{BB962C8B-B14F-4D97-AF65-F5344CB8AC3E}">
        <p14:creationId xmlns:p14="http://schemas.microsoft.com/office/powerpoint/2010/main" val="21379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E52B2FFD-35C4-4D96-9708-EA15A5446C5E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workflow 稳定性评估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578A72-22D3-4A71-8CF9-966C3867428A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914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四个 synthetic evaluation cases 检验统计路径切换、guardrail 阻断和非显著结果克制表达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F9FB39-B900-43B7-8857-51C374A13C4D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Evaluation layer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A06A27D-A6BC-4364-9994-C8EDC2522F8A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268605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C5A702-0E66-42E7-9064-535712D6966D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2686050" cy="66675"/>
          </a:xfrm>
          <a:prstGeom prst="rect">
            <a:avLst/>
          </a:prstGeom>
          <a:solidFill>
            <a:srgbClr val="0EA5E9"/>
          </a:solidFill>
          <a:ln w="0">
            <a:solidFill>
              <a:srgbClr val="0EA5E9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AD7D85-5708-4442-A205-D997081194DD}"/>
              </a:ext>
            </a:extLst>
          </p:cNvPr>
          <p:cNvSpPr>
            <a:spLocks noGrp="1"/>
          </p:cNvSpPr>
          <p:nvPr/>
        </p:nvSpPr>
        <p:spPr>
          <a:xfrm>
            <a:off x="647700" y="1466850"/>
            <a:ext cx="2419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Clean ANOVA case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1AFB53-01D1-4FEC-8F14-17FB4BA2E9FE}"/>
              </a:ext>
            </a:extLst>
          </p:cNvPr>
          <p:cNvSpPr>
            <a:spLocks noGrp="1"/>
          </p:cNvSpPr>
          <p:nvPr/>
        </p:nvSpPr>
        <p:spPr>
          <a:xfrm>
            <a:off x="647700" y="1771650"/>
            <a:ext cx="2419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475569"/>
                </a:solidFill>
              </a:defRPr>
            </a:pPr>
            <a:r>
              <a:rPr sz="1088" b="0">
                <a:solidFill>
                  <a:srgbClr val="475569"/>
                </a:solidFill>
              </a:rPr>
              <a:t>员工入职培训形式效果评估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92C622-BA0D-4069-89FC-F0E401811587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0EA5E9"/>
                </a:solidFill>
              </a:defRPr>
            </a:pPr>
            <a:r>
              <a:rPr sz="1088" b="1">
                <a:solidFill>
                  <a:srgbClr val="0EA5E9"/>
                </a:solidFill>
              </a:rPr>
              <a:t>推荐 ordinary ANOVA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7CD5C7F-58FD-4AE2-8385-F97239FCEF00}"/>
              </a:ext>
            </a:extLst>
          </p:cNvPr>
          <p:cNvSpPr>
            <a:spLocks noGrp="1"/>
          </p:cNvSpPr>
          <p:nvPr/>
        </p:nvSpPr>
        <p:spPr>
          <a:xfrm>
            <a:off x="3409950" y="1314450"/>
            <a:ext cx="268605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2EE4BE-7F72-413F-BEF8-D11A940477B7}"/>
              </a:ext>
            </a:extLst>
          </p:cNvPr>
          <p:cNvSpPr>
            <a:spLocks noGrp="1"/>
          </p:cNvSpPr>
          <p:nvPr/>
        </p:nvSpPr>
        <p:spPr>
          <a:xfrm>
            <a:off x="3409950" y="1314450"/>
            <a:ext cx="2686050" cy="6667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936FD2-255D-4FE8-8151-E62E147A257C}"/>
              </a:ext>
            </a:extLst>
          </p:cNvPr>
          <p:cNvSpPr>
            <a:spLocks noGrp="1"/>
          </p:cNvSpPr>
          <p:nvPr/>
        </p:nvSpPr>
        <p:spPr>
          <a:xfrm>
            <a:off x="3543300" y="1466850"/>
            <a:ext cx="2419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Unequal variance case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D502FE-D9E0-4854-96BA-292D633F760C}"/>
              </a:ext>
            </a:extLst>
          </p:cNvPr>
          <p:cNvSpPr>
            <a:spLocks noGrp="1"/>
          </p:cNvSpPr>
          <p:nvPr/>
        </p:nvSpPr>
        <p:spPr>
          <a:xfrm>
            <a:off x="3543300" y="1771650"/>
            <a:ext cx="2419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475569"/>
                </a:solidFill>
              </a:defRPr>
            </a:pPr>
            <a:r>
              <a:rPr sz="1088" b="0">
                <a:solidFill>
                  <a:srgbClr val="475569"/>
                </a:solidFill>
              </a:rPr>
              <a:t>不同客服辅助工具对服务处理表现的影响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0F0C83-6747-4ED7-B78A-769584625A8F}"/>
              </a:ext>
            </a:extLst>
          </p:cNvPr>
          <p:cNvSpPr>
            <a:spLocks noGrp="1"/>
          </p:cNvSpPr>
          <p:nvPr/>
        </p:nvSpPr>
        <p:spPr>
          <a:xfrm>
            <a:off x="3543300" y="2228850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F59E0B"/>
                </a:solidFill>
              </a:defRPr>
            </a:pPr>
            <a:r>
              <a:rPr sz="1088" b="1">
                <a:solidFill>
                  <a:srgbClr val="F59E0B"/>
                </a:solidFill>
              </a:rPr>
              <a:t>推荐 Welch ANOVA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32E05C5-AF78-4FD4-BD82-7A01F3372235}"/>
              </a:ext>
            </a:extLst>
          </p:cNvPr>
          <p:cNvSpPr>
            <a:spLocks noGrp="1"/>
          </p:cNvSpPr>
          <p:nvPr/>
        </p:nvSpPr>
        <p:spPr>
          <a:xfrm>
            <a:off x="6305550" y="1314450"/>
            <a:ext cx="268605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9AFDD2-6648-4DA2-8F79-302B6A90B984}"/>
              </a:ext>
            </a:extLst>
          </p:cNvPr>
          <p:cNvSpPr>
            <a:spLocks noGrp="1"/>
          </p:cNvSpPr>
          <p:nvPr/>
        </p:nvSpPr>
        <p:spPr>
          <a:xfrm>
            <a:off x="6305550" y="1314450"/>
            <a:ext cx="2686050" cy="66675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E202F5-2D0D-40AB-8A53-F2C3A6F87190}"/>
              </a:ext>
            </a:extLst>
          </p:cNvPr>
          <p:cNvSpPr>
            <a:spLocks noGrp="1"/>
          </p:cNvSpPr>
          <p:nvPr/>
        </p:nvSpPr>
        <p:spPr>
          <a:xfrm>
            <a:off x="6438900" y="1466850"/>
            <a:ext cx="2419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Diagnostic-only case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06D795-7C72-4CAB-8D34-BCEEA58FEB17}"/>
              </a:ext>
            </a:extLst>
          </p:cNvPr>
          <p:cNvSpPr>
            <a:spLocks noGrp="1"/>
          </p:cNvSpPr>
          <p:nvPr/>
        </p:nvSpPr>
        <p:spPr>
          <a:xfrm>
            <a:off x="6438900" y="1771650"/>
            <a:ext cx="2419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475569"/>
                </a:solidFill>
              </a:defRPr>
            </a:pPr>
            <a:r>
              <a:rPr sz="1088" b="0">
                <a:solidFill>
                  <a:srgbClr val="475569"/>
                </a:solidFill>
              </a:rPr>
              <a:t>员工培训方案效果评估中的高风险数据检查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55FA74-3E02-4384-B65D-D3697AA3230A}"/>
              </a:ext>
            </a:extLst>
          </p:cNvPr>
          <p:cNvSpPr>
            <a:spLocks noGrp="1"/>
          </p:cNvSpPr>
          <p:nvPr/>
        </p:nvSpPr>
        <p:spPr>
          <a:xfrm>
            <a:off x="6438900" y="2228850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DC2626"/>
                </a:solidFill>
              </a:defRPr>
            </a:pPr>
            <a:r>
              <a:rPr sz="1088" b="1">
                <a:solidFill>
                  <a:srgbClr val="DC2626"/>
                </a:solidFill>
              </a:rPr>
              <a:t>阻断正式报告，只输出诊断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C855E40-AC65-478A-9CB0-312C343549A2}"/>
              </a:ext>
            </a:extLst>
          </p:cNvPr>
          <p:cNvSpPr>
            <a:spLocks noGrp="1"/>
          </p:cNvSpPr>
          <p:nvPr/>
        </p:nvSpPr>
        <p:spPr>
          <a:xfrm>
            <a:off x="9201150" y="1314450"/>
            <a:ext cx="268605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03C279-00EA-4D5C-AA01-D499909B5149}"/>
              </a:ext>
            </a:extLst>
          </p:cNvPr>
          <p:cNvSpPr>
            <a:spLocks noGrp="1"/>
          </p:cNvSpPr>
          <p:nvPr/>
        </p:nvSpPr>
        <p:spPr>
          <a:xfrm>
            <a:off x="9201150" y="1314450"/>
            <a:ext cx="2686050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7BECAC0-A27F-4F62-9220-4753157CE542}"/>
              </a:ext>
            </a:extLst>
          </p:cNvPr>
          <p:cNvSpPr>
            <a:spLocks noGrp="1"/>
          </p:cNvSpPr>
          <p:nvPr/>
        </p:nvSpPr>
        <p:spPr>
          <a:xfrm>
            <a:off x="9334500" y="1466850"/>
            <a:ext cx="2419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Non-significant result case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C1C49F-D3A5-42D9-AECA-64FFF37D8006}"/>
              </a:ext>
            </a:extLst>
          </p:cNvPr>
          <p:cNvSpPr>
            <a:spLocks noGrp="1"/>
          </p:cNvSpPr>
          <p:nvPr/>
        </p:nvSpPr>
        <p:spPr>
          <a:xfrm>
            <a:off x="9334500" y="1771650"/>
            <a:ext cx="2419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475569"/>
                </a:solidFill>
              </a:defRPr>
            </a:pPr>
            <a:r>
              <a:rPr sz="1088" b="0">
                <a:solidFill>
                  <a:srgbClr val="475569"/>
                </a:solidFill>
              </a:rPr>
              <a:t>内部知识检索工具试点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5FD98D-5F73-4333-8505-851E3A2A5299}"/>
              </a:ext>
            </a:extLst>
          </p:cNvPr>
          <p:cNvSpPr>
            <a:spLocks noGrp="1"/>
          </p:cNvSpPr>
          <p:nvPr/>
        </p:nvSpPr>
        <p:spPr>
          <a:xfrm>
            <a:off x="9334500" y="2228850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7C3AED"/>
                </a:solidFill>
              </a:defRPr>
            </a:pPr>
            <a:r>
              <a:rPr sz="1088" b="1">
                <a:solidFill>
                  <a:srgbClr val="7C3AED"/>
                </a:solidFill>
              </a:rPr>
              <a:t>不夸大非显著结果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439D71F-B71F-43DE-9D0E-09586AD4F2EA}"/>
              </a:ext>
            </a:extLst>
          </p:cNvPr>
          <p:cNvSpPr>
            <a:spLocks noGrp="1"/>
          </p:cNvSpPr>
          <p:nvPr/>
        </p:nvSpPr>
        <p:spPr>
          <a:xfrm>
            <a:off x="514350" y="3143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九项确定指标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CB0371-14D2-4B27-A63F-F7212DC1D538}"/>
              </a:ext>
            </a:extLst>
          </p:cNvPr>
          <p:cNvSpPr>
            <a:spLocks noGrp="1"/>
          </p:cNvSpPr>
          <p:nvPr/>
        </p:nvSpPr>
        <p:spPr>
          <a:xfrm>
            <a:off x="2266950" y="319087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只展示已经有证据的指标，突出流程稳定性、可追溯性和效率提升。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EDDD46C2-74D9-4505-9B7B-111627CFF7BE}"/>
              </a:ext>
            </a:extLst>
          </p:cNvPr>
          <p:cNvSpPr>
            <a:spLocks noGrp="1"/>
          </p:cNvSpPr>
          <p:nvPr/>
        </p:nvSpPr>
        <p:spPr>
          <a:xfrm>
            <a:off x="514350" y="365760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B50C18-272D-42F9-9529-AAC264DF75DA}"/>
              </a:ext>
            </a:extLst>
          </p:cNvPr>
          <p:cNvSpPr>
            <a:spLocks noGrp="1"/>
          </p:cNvSpPr>
          <p:nvPr/>
        </p:nvSpPr>
        <p:spPr>
          <a:xfrm>
            <a:off x="628650" y="3733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370277A-4D49-4F67-9226-7C57EBE90028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任务完成率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82948A9-C263-48BE-AEC9-E5AD4AB5D585}"/>
              </a:ext>
            </a:extLst>
          </p:cNvPr>
          <p:cNvSpPr>
            <a:spLocks noGrp="1"/>
          </p:cNvSpPr>
          <p:nvPr/>
        </p:nvSpPr>
        <p:spPr>
          <a:xfrm>
            <a:off x="2400300" y="365760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3B4882-6E99-47EF-B8B3-83DD31AACAA7}"/>
              </a:ext>
            </a:extLst>
          </p:cNvPr>
          <p:cNvSpPr>
            <a:spLocks noGrp="1"/>
          </p:cNvSpPr>
          <p:nvPr/>
        </p:nvSpPr>
        <p:spPr>
          <a:xfrm>
            <a:off x="2514600" y="3733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FC8AD1D-AF52-4122-9A33-FA11554513CC}"/>
              </a:ext>
            </a:extLst>
          </p:cNvPr>
          <p:cNvSpPr>
            <a:spLocks noGrp="1"/>
          </p:cNvSpPr>
          <p:nvPr/>
        </p:nvSpPr>
        <p:spPr>
          <a:xfrm>
            <a:off x="2495550" y="40957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决策路径准确率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0EE00C8C-7F76-4E90-BFB2-3B0987F1FCF9}"/>
              </a:ext>
            </a:extLst>
          </p:cNvPr>
          <p:cNvSpPr>
            <a:spLocks noGrp="1"/>
          </p:cNvSpPr>
          <p:nvPr/>
        </p:nvSpPr>
        <p:spPr>
          <a:xfrm>
            <a:off x="4286250" y="365760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EF790C-ECD9-4D83-A746-FA347A726F43}"/>
              </a:ext>
            </a:extLst>
          </p:cNvPr>
          <p:cNvSpPr>
            <a:spLocks noGrp="1"/>
          </p:cNvSpPr>
          <p:nvPr/>
        </p:nvSpPr>
        <p:spPr>
          <a:xfrm>
            <a:off x="4400550" y="3733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496D358-60B7-4796-A41D-E5ADD5FA1ED5}"/>
              </a:ext>
            </a:extLst>
          </p:cNvPr>
          <p:cNvSpPr>
            <a:spLocks noGrp="1"/>
          </p:cNvSpPr>
          <p:nvPr/>
        </p:nvSpPr>
        <p:spPr>
          <a:xfrm>
            <a:off x="4381500" y="40957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人工确认合规率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F280C2F5-9C2D-4739-B79C-D4524DF031CB}"/>
              </a:ext>
            </a:extLst>
          </p:cNvPr>
          <p:cNvSpPr>
            <a:spLocks noGrp="1"/>
          </p:cNvSpPr>
          <p:nvPr/>
        </p:nvSpPr>
        <p:spPr>
          <a:xfrm>
            <a:off x="514350" y="461010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C70468B-55F1-40B0-B629-451F61F23128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F889F6D-DA2C-4CD4-A583-F364EB3FBA28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报告完整率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5C14623F-EA08-4F14-943D-F0F65E1EC743}"/>
              </a:ext>
            </a:extLst>
          </p:cNvPr>
          <p:cNvSpPr>
            <a:spLocks noGrp="1"/>
          </p:cNvSpPr>
          <p:nvPr/>
        </p:nvSpPr>
        <p:spPr>
          <a:xfrm>
            <a:off x="2400300" y="461010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04206F9-B9C1-4778-B439-AB0674C53113}"/>
              </a:ext>
            </a:extLst>
          </p:cNvPr>
          <p:cNvSpPr>
            <a:spLocks noGrp="1"/>
          </p:cNvSpPr>
          <p:nvPr/>
        </p:nvSpPr>
        <p:spPr>
          <a:xfrm>
            <a:off x="2514600" y="46863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EA6069C-0520-441B-82D1-98C68B0B84DC}"/>
              </a:ext>
            </a:extLst>
          </p:cNvPr>
          <p:cNvSpPr>
            <a:spLocks noGrp="1"/>
          </p:cNvSpPr>
          <p:nvPr/>
        </p:nvSpPr>
        <p:spPr>
          <a:xfrm>
            <a:off x="2495550" y="50482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文本、表格、图表一致率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6128B3A6-1EFC-49D3-A008-29A1357188E0}"/>
              </a:ext>
            </a:extLst>
          </p:cNvPr>
          <p:cNvSpPr>
            <a:spLocks noGrp="1"/>
          </p:cNvSpPr>
          <p:nvPr/>
        </p:nvSpPr>
        <p:spPr>
          <a:xfrm>
            <a:off x="4286250" y="461010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EFF4989-2EFB-469B-A62B-E4890210891E}"/>
              </a:ext>
            </a:extLst>
          </p:cNvPr>
          <p:cNvSpPr>
            <a:spLocks noGrp="1"/>
          </p:cNvSpPr>
          <p:nvPr/>
        </p:nvSpPr>
        <p:spPr>
          <a:xfrm>
            <a:off x="4400550" y="46863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FEABFE2-C22E-408F-9CA9-0E835149EC64}"/>
              </a:ext>
            </a:extLst>
          </p:cNvPr>
          <p:cNvSpPr>
            <a:spLocks noGrp="1"/>
          </p:cNvSpPr>
          <p:nvPr/>
        </p:nvSpPr>
        <p:spPr>
          <a:xfrm>
            <a:off x="4381500" y="50482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统计格式通过率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43F23B72-6CA9-448A-A6EA-BB6A0028BA5B}"/>
              </a:ext>
            </a:extLst>
          </p:cNvPr>
          <p:cNvSpPr>
            <a:spLocks noGrp="1"/>
          </p:cNvSpPr>
          <p:nvPr/>
        </p:nvSpPr>
        <p:spPr>
          <a:xfrm>
            <a:off x="514350" y="556260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8114BED-67C1-49A9-ADC0-46CEEBBA3A45}"/>
              </a:ext>
            </a:extLst>
          </p:cNvPr>
          <p:cNvSpPr>
            <a:spLocks noGrp="1"/>
          </p:cNvSpPr>
          <p:nvPr/>
        </p:nvSpPr>
        <p:spPr>
          <a:xfrm>
            <a:off x="628650" y="5638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8.52%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0CA36F4-850F-423D-8BE3-9621EA7AA43A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人工审核修改率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0D709AD6-C69A-4420-999E-39A601A30B0D}"/>
              </a:ext>
            </a:extLst>
          </p:cNvPr>
          <p:cNvSpPr>
            <a:spLocks noGrp="1"/>
          </p:cNvSpPr>
          <p:nvPr/>
        </p:nvSpPr>
        <p:spPr>
          <a:xfrm>
            <a:off x="2400300" y="556260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DD45ED6-AEDB-4A55-9302-75BCD91FB4A0}"/>
              </a:ext>
            </a:extLst>
          </p:cNvPr>
          <p:cNvSpPr>
            <a:spLocks noGrp="1"/>
          </p:cNvSpPr>
          <p:nvPr/>
        </p:nvSpPr>
        <p:spPr>
          <a:xfrm>
            <a:off x="2514600" y="5638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48CEC2C-10B1-4D73-8FCA-BE78C92C3141}"/>
              </a:ext>
            </a:extLst>
          </p:cNvPr>
          <p:cNvSpPr>
            <a:spLocks noGrp="1"/>
          </p:cNvSpPr>
          <p:nvPr/>
        </p:nvSpPr>
        <p:spPr>
          <a:xfrm>
            <a:off x="2495550" y="60007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统计结论可追溯率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B1A37B05-21EF-47E8-A8F6-B848A0C7736B}"/>
              </a:ext>
            </a:extLst>
          </p:cNvPr>
          <p:cNvSpPr>
            <a:spLocks noGrp="1"/>
          </p:cNvSpPr>
          <p:nvPr/>
        </p:nvSpPr>
        <p:spPr>
          <a:xfrm>
            <a:off x="4286250" y="556260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9DBEF53-5421-4127-8B54-214E8CDE0A3A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80分钟 / 9.0x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72221E2-6E3E-4330-B11B-5CDA0B2505CA}"/>
              </a:ext>
            </a:extLst>
          </p:cNvPr>
          <p:cNvSpPr>
            <a:spLocks noGrp="1"/>
          </p:cNvSpPr>
          <p:nvPr/>
        </p:nvSpPr>
        <p:spPr>
          <a:xfrm>
            <a:off x="4381500" y="60007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时间节省与效率提升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016B9FB8-9A2F-4777-97D2-FEAE9BE7BA7E}"/>
              </a:ext>
            </a:extLst>
          </p:cNvPr>
          <p:cNvSpPr>
            <a:spLocks noGrp="1"/>
          </p:cNvSpPr>
          <p:nvPr/>
        </p:nvSpPr>
        <p:spPr>
          <a:xfrm>
            <a:off x="6715125" y="3657600"/>
            <a:ext cx="4953000" cy="173355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DB44A7A-204B-4D20-A22E-9F8C2A47AB86}"/>
              </a:ext>
            </a:extLst>
          </p:cNvPr>
          <p:cNvSpPr>
            <a:spLocks noGrp="1"/>
          </p:cNvSpPr>
          <p:nvPr/>
        </p:nvSpPr>
        <p:spPr>
          <a:xfrm>
            <a:off x="6715125" y="3657600"/>
            <a:ext cx="76200" cy="17335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BFA1615-6AE1-46A6-B252-550D40E6E075}"/>
              </a:ext>
            </a:extLst>
          </p:cNvPr>
          <p:cNvSpPr>
            <a:spLocks noGrp="1"/>
          </p:cNvSpPr>
          <p:nvPr/>
        </p:nvSpPr>
        <p:spPr>
          <a:xfrm>
            <a:off x="6886575" y="37909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评估结论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5A98E2A-FD4C-4BA3-A282-3E5B71FA1A0A}"/>
              </a:ext>
            </a:extLst>
          </p:cNvPr>
          <p:cNvSpPr>
            <a:spLocks noGrp="1"/>
          </p:cNvSpPr>
          <p:nvPr/>
        </p:nvSpPr>
        <p:spPr>
          <a:xfrm>
            <a:off x="6886575" y="4114800"/>
            <a:ext cx="4610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475569"/>
                </a:solidFill>
              </a:defRPr>
            </a:pPr>
            <a:r>
              <a:rPr sz="1163" b="0">
                <a:solidFill>
                  <a:srgbClr val="475569"/>
                </a:solidFill>
              </a:rPr>
              <a:t>同一套 workflow 能迁移到培训、客服、数据诊断和知识检索场景。</a:t>
            </a:r>
          </a:p>
          <a:p>
            <a:endParaRPr sz="1163" b="0">
              <a:solidFill>
                <a:srgbClr val="475569"/>
              </a:solidFill>
            </a:endParaRPr>
          </a:p>
          <a:p>
            <a:pPr algn="l">
              <a:defRPr sz="1163" b="0">
                <a:solidFill>
                  <a:srgbClr val="475569"/>
                </a:solidFill>
              </a:defRPr>
            </a:pPr>
            <a:r>
              <a:rPr sz="1163" b="0">
                <a:solidFill>
                  <a:srgbClr val="475569"/>
                </a:solidFill>
              </a:rPr>
              <a:t>它不仅验证“能生成报告”，也验证路径切换、风险阻断和克制表达。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1240717-0CB6-4BB2-A480-4FCC51161DF9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结论：同一套 workflow 可在不同业务场景中保持路径判断、报告边界和表达质量。</a:t>
            </a:r>
          </a:p>
        </p:txBody>
      </p:sp>
    </p:spTree>
    <p:extLst>
      <p:ext uri="{BB962C8B-B14F-4D97-AF65-F5344CB8AC3E}">
        <p14:creationId xmlns:p14="http://schemas.microsoft.com/office/powerpoint/2010/main" val="4513277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Macintosh PowerPoint</Application>
  <DocSecurity>0</DocSecurity>
  <PresentationFormat>宽屏</PresentationFormat>
  <Paragraphs>82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202231061023@mail.bnu.edu.cn</cp:lastModifiedBy>
  <cp:revision>1</cp:revision>
  <dcterms:created xsi:type="dcterms:W3CDTF">2026-06-30T07:22:39Z</dcterms:created>
  <dcterms:modified xsi:type="dcterms:W3CDTF">2026-06-30T07:34:28Z</dcterms:modified>
</cp:coreProperties>
</file>